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ECD633-5D98-49D4-851D-4FE736A4C3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17E40D-F89C-456B-BDA2-D9EFB3B0D74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12F13B-9AEB-468B-832C-3B415E0B5A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3F70092-208C-42C3-9396-9CC8C537DC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EF27F7-F7E8-4561-A708-E937DE479A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8EE735-4F28-4494-A4C9-044CAD314B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DC42DE-1D6E-4121-8E1F-60673D02FE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DDFE14-B342-41E6-8AE5-9BF280A5D1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616803-C9FE-420F-99D4-AB525ED789E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2B174F-C614-405B-BA7F-2CC59129BF0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&lt;data/hora&gt;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237E660-2DC4-4D11-8942-A92505A758D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image" Target="../media/image14.png"/><Relationship Id="rId1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6.png"/><Relationship Id="rId3" Type="http://schemas.openxmlformats.org/officeDocument/2006/relationships/image" Target="../media/image16.png"/><Relationship Id="rId4" Type="http://schemas.openxmlformats.org/officeDocument/2006/relationships/image" Target="../media/image16.png"/><Relationship Id="rId5" Type="http://schemas.openxmlformats.org/officeDocument/2006/relationships/image" Target="../media/image16.png"/><Relationship Id="rId6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Relationship Id="rId7" Type="http://schemas.openxmlformats.org/officeDocument/2006/relationships/image" Target="../media/image24.png"/><Relationship Id="rId8" Type="http://schemas.openxmlformats.org/officeDocument/2006/relationships/image" Target="../media/image21.png"/><Relationship Id="rId9" Type="http://schemas.openxmlformats.org/officeDocument/2006/relationships/image" Target="../media/image23.png"/><Relationship Id="rId10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11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3.pn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slideLayout" Target="../slideLayouts/slideLayout9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slideLayout" Target="../slideLayouts/slideLayout9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7.png"/><Relationship Id="rId3" Type="http://schemas.openxmlformats.org/officeDocument/2006/relationships/image" Target="../media/image19.png"/><Relationship Id="rId4" Type="http://schemas.openxmlformats.org/officeDocument/2006/relationships/image" Target="../media/image58.png"/><Relationship Id="rId5" Type="http://schemas.openxmlformats.org/officeDocument/2006/relationships/image" Target="../media/image59.png"/><Relationship Id="rId6" Type="http://schemas.openxmlformats.org/officeDocument/2006/relationships/slideLayout" Target="../slideLayouts/slideLayout9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0.png"/><Relationship Id="rId3" Type="http://schemas.openxmlformats.org/officeDocument/2006/relationships/image" Target="../media/image61.png"/><Relationship Id="rId4" Type="http://schemas.openxmlformats.org/officeDocument/2006/relationships/slideLayout" Target="../slideLayouts/slideLayout9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2.png"/><Relationship Id="rId3" Type="http://schemas.openxmlformats.org/officeDocument/2006/relationships/image" Target="../media/image20.png"/><Relationship Id="rId4" Type="http://schemas.openxmlformats.org/officeDocument/2006/relationships/image" Target="../media/image63.png"/><Relationship Id="rId5" Type="http://schemas.openxmlformats.org/officeDocument/2006/relationships/slideLayout" Target="../slideLayouts/slideLayout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4.png"/><Relationship Id="rId3" Type="http://schemas.openxmlformats.org/officeDocument/2006/relationships/slideLayout" Target="../slideLayouts/slideLayout9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slideLayout" Target="../slideLayouts/slideLayout9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68.png"/><Relationship Id="rId9" Type="http://schemas.openxmlformats.org/officeDocument/2006/relationships/image" Target="../media/image69.png"/><Relationship Id="rId10" Type="http://schemas.openxmlformats.org/officeDocument/2006/relationships/image" Target="../media/image70.png"/><Relationship Id="rId1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Picture 2" descr="image.png"/>
          <p:cNvPicPr/>
          <p:nvPr/>
        </p:nvPicPr>
        <p:blipFill>
          <a:blip r:embed="rId2"/>
          <a:stretch/>
        </p:blipFill>
        <p:spPr>
          <a:xfrm>
            <a:off x="4552920" y="2123280"/>
            <a:ext cx="3085920" cy="352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TextBox 3"/>
          <p:cNvSpPr/>
          <p:nvPr/>
        </p:nvSpPr>
        <p:spPr>
          <a:xfrm>
            <a:off x="1095480" y="2666160"/>
            <a:ext cx="10000800" cy="118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4657"/>
              </a:lnSpc>
            </a:pPr>
            <a:r>
              <a:rPr lang="en-US" sz="405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Banco de Dados &amp; PHP em Aplicações Web</a:t>
            </a:r>
            <a:endParaRPr lang="pt-BR" sz="4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1333440" y="3992040"/>
            <a:ext cx="8572320" cy="62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2475"/>
              </a:lnSpc>
            </a:pPr>
            <a:r>
              <a:rPr lang="en-US" sz="165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Uma visão teórico-prática completa: Banco de dados relacional, arquitetura em camadas (MVC) e explanação detalhada da conexão com PDO.</a:t>
            </a:r>
            <a:endParaRPr lang="pt-B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" name="Picture 5" descr="image.png"/>
          <p:cNvPicPr/>
          <p:nvPr/>
        </p:nvPicPr>
        <p:blipFill>
          <a:blip r:embed="rId3"/>
          <a:stretch/>
        </p:blipFill>
        <p:spPr>
          <a:xfrm>
            <a:off x="4734000" y="2228040"/>
            <a:ext cx="180720" cy="142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" name="TextBox 2"/>
          <p:cNvSpPr/>
          <p:nvPr/>
        </p:nvSpPr>
        <p:spPr>
          <a:xfrm>
            <a:off x="5514840" y="2214720"/>
            <a:ext cx="11617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MÓDULO 01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580320" y="2557440"/>
            <a:ext cx="1103112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9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Fundamentos de Banco de Dados na Web</a:t>
            </a:r>
            <a:endParaRPr lang="pt-BR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Rectangle 4"/>
          <p:cNvSpPr/>
          <p:nvPr/>
        </p:nvSpPr>
        <p:spPr>
          <a:xfrm>
            <a:off x="5715000" y="3681360"/>
            <a:ext cx="761760" cy="37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2523960" y="3957480"/>
            <a:ext cx="71434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2251"/>
              </a:lnSpc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Entendendo a necessidade da persistência de dados em aplicações dinâmicas modernos.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2" name="Picture 2" descr="image.png"/>
          <p:cNvPicPr/>
          <p:nvPr/>
        </p:nvPicPr>
        <p:blipFill>
          <a:blip r:embed="rId2"/>
          <a:stretch/>
        </p:blipFill>
        <p:spPr>
          <a:xfrm>
            <a:off x="571680" y="2762280"/>
            <a:ext cx="5333760" cy="21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3" name="Picture 3" descr="image.png"/>
          <p:cNvPicPr/>
          <p:nvPr/>
        </p:nvPicPr>
        <p:blipFill>
          <a:blip r:embed="rId3"/>
          <a:stretch/>
        </p:blipFill>
        <p:spPr>
          <a:xfrm>
            <a:off x="6286680" y="2762280"/>
            <a:ext cx="5333760" cy="21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Box 4"/>
          <p:cNvSpPr/>
          <p:nvPr/>
        </p:nvSpPr>
        <p:spPr>
          <a:xfrm>
            <a:off x="914400" y="3067200"/>
            <a:ext cx="49201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Estado e Persistência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5"/>
          <p:cNvSpPr/>
          <p:nvPr/>
        </p:nvSpPr>
        <p:spPr>
          <a:xfrm>
            <a:off x="914400" y="3514680"/>
            <a:ext cx="468612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O protocolo HTTP é originalmente sem estado (stateless). O banco de dados permite armazenar informações de forma permanente entre diferentes requisições do usuário, como cadastros, pedidos e sessões.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6"/>
          <p:cNvSpPr/>
          <p:nvPr/>
        </p:nvSpPr>
        <p:spPr>
          <a:xfrm>
            <a:off x="6629400" y="3067200"/>
            <a:ext cx="49201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Dinamismo e Escalabilidade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7"/>
          <p:cNvSpPr/>
          <p:nvPr/>
        </p:nvSpPr>
        <p:spPr>
          <a:xfrm>
            <a:off x="6629400" y="3514680"/>
            <a:ext cx="468612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Em vez de criar páginas HTML estáticas para cada produto ou usuário, a aplicação lê dados centralizados do banco e gera o conteúdo HTML dinamicamente em tempo de execução para o cliente.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Papel do Banco de Dados na Web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TextBox 2"/>
          <p:cNvSpPr/>
          <p:nvPr/>
        </p:nvSpPr>
        <p:spPr>
          <a:xfrm>
            <a:off x="571680" y="571680"/>
            <a:ext cx="5550480" cy="104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Visão Geral da Arquitetura Web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4"/>
          <p:cNvSpPr/>
          <p:nvPr/>
        </p:nvSpPr>
        <p:spPr>
          <a:xfrm>
            <a:off x="571680" y="1905120"/>
            <a:ext cx="55504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O Triângulo da Aplicação Web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5"/>
          <p:cNvSpPr/>
          <p:nvPr/>
        </p:nvSpPr>
        <p:spPr>
          <a:xfrm>
            <a:off x="571680" y="2352600"/>
            <a:ext cx="528588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Uma aplicação web moderna funciona através da interação constante entre três pilares essenciais: o Navegador (Cliente), o Servidor Web (PHP) e o Sistema Gerenciador de Banco de Dados (SGBD MySQL).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6"/>
          <p:cNvSpPr/>
          <p:nvPr/>
        </p:nvSpPr>
        <p:spPr>
          <a:xfrm>
            <a:off x="571680" y="3438360"/>
            <a:ext cx="528588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O navegador envia requisições HTTP, o script PHP processa a regra de negócio e consulta o MySQL, retornando o resultado final formatado para o usuário.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"/>
          <p:cNvPicPr/>
          <p:nvPr/>
        </p:nvPicPr>
        <p:blipFill>
          <a:blip r:embed="rId2"/>
          <a:stretch/>
        </p:blipFill>
        <p:spPr>
          <a:xfrm>
            <a:off x="6300000" y="540000"/>
            <a:ext cx="5700240" cy="54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Picture 2" descr="image.png"/>
          <p:cNvPicPr/>
          <p:nvPr/>
        </p:nvPicPr>
        <p:blipFill>
          <a:blip r:embed="rId2"/>
          <a:stretch/>
        </p:blipFill>
        <p:spPr>
          <a:xfrm>
            <a:off x="571680" y="2376360"/>
            <a:ext cx="3492360" cy="291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Picture 3" descr="image.png"/>
          <p:cNvPicPr/>
          <p:nvPr/>
        </p:nvPicPr>
        <p:blipFill>
          <a:blip r:embed="rId3"/>
          <a:stretch/>
        </p:blipFill>
        <p:spPr>
          <a:xfrm>
            <a:off x="4349880" y="2376360"/>
            <a:ext cx="3492360" cy="291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Picture 4" descr="image.png"/>
          <p:cNvPicPr/>
          <p:nvPr/>
        </p:nvPicPr>
        <p:blipFill>
          <a:blip r:embed="rId4"/>
          <a:stretch/>
        </p:blipFill>
        <p:spPr>
          <a:xfrm>
            <a:off x="8128080" y="2376360"/>
            <a:ext cx="3492360" cy="291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Picture 5" descr="image.png"/>
          <p:cNvPicPr/>
          <p:nvPr/>
        </p:nvPicPr>
        <p:blipFill>
          <a:blip r:embed="rId5"/>
          <a:stretch/>
        </p:blipFill>
        <p:spPr>
          <a:xfrm>
            <a:off x="866880" y="270036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Box 6"/>
          <p:cNvSpPr/>
          <p:nvPr/>
        </p:nvSpPr>
        <p:spPr>
          <a:xfrm>
            <a:off x="866880" y="3462480"/>
            <a:ext cx="21600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Dados de Usuário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7"/>
          <p:cNvSpPr/>
          <p:nvPr/>
        </p:nvSpPr>
        <p:spPr>
          <a:xfrm>
            <a:off x="866880" y="3909960"/>
            <a:ext cx="290160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Credenciais criptografadas, perfis, preferências de sistema e histórico de acessos armazenados com segurança.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" name="Picture 8" descr="image.png"/>
          <p:cNvPicPr/>
          <p:nvPr/>
        </p:nvPicPr>
        <p:blipFill>
          <a:blip r:embed="rId6"/>
          <a:stretch/>
        </p:blipFill>
        <p:spPr>
          <a:xfrm>
            <a:off x="4645080" y="270036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TextBox 9"/>
          <p:cNvSpPr/>
          <p:nvPr/>
        </p:nvSpPr>
        <p:spPr>
          <a:xfrm>
            <a:off x="4645080" y="3462480"/>
            <a:ext cx="23000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Regras de Negócio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4645080" y="3909960"/>
            <a:ext cx="290160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Catálogos de produtos, estoque, transações financeiras e registros operacionais da organização.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5" name="Picture 11" descr="image.png"/>
          <p:cNvPicPr/>
          <p:nvPr/>
        </p:nvPicPr>
        <p:blipFill>
          <a:blip r:embed="rId7"/>
          <a:stretch/>
        </p:blipFill>
        <p:spPr>
          <a:xfrm>
            <a:off x="8423280" y="270036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Box 12"/>
          <p:cNvSpPr/>
          <p:nvPr/>
        </p:nvSpPr>
        <p:spPr>
          <a:xfrm>
            <a:off x="8423280" y="3462480"/>
            <a:ext cx="1969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Logs e Auditoria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Box 13"/>
          <p:cNvSpPr/>
          <p:nvPr/>
        </p:nvSpPr>
        <p:spPr>
          <a:xfrm>
            <a:off x="8423280" y="3909960"/>
            <a:ext cx="290160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Histórico de modificações no sistema, acessos de segurança e registros para conformidade legal (LGPD).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8" name="Picture 14" descr="image.png"/>
          <p:cNvPicPr/>
          <p:nvPr/>
        </p:nvPicPr>
        <p:blipFill>
          <a:blip r:embed="rId8"/>
          <a:stretch/>
        </p:blipFill>
        <p:spPr>
          <a:xfrm>
            <a:off x="995400" y="2862360"/>
            <a:ext cx="31392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9" name="Picture 15" descr="image.png"/>
          <p:cNvPicPr/>
          <p:nvPr/>
        </p:nvPicPr>
        <p:blipFill>
          <a:blip r:embed="rId9"/>
          <a:stretch/>
        </p:blipFill>
        <p:spPr>
          <a:xfrm>
            <a:off x="4792680" y="2862360"/>
            <a:ext cx="27576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16" descr="image.png"/>
          <p:cNvPicPr/>
          <p:nvPr/>
        </p:nvPicPr>
        <p:blipFill>
          <a:blip r:embed="rId10"/>
          <a:stretch/>
        </p:blipFill>
        <p:spPr>
          <a:xfrm>
            <a:off x="8585280" y="286236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TextBox 17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Tipos de Dados e Persistência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3" name="Picture 2" descr="image.png"/>
          <p:cNvPicPr/>
          <p:nvPr/>
        </p:nvPicPr>
        <p:blipFill>
          <a:blip r:embed="rId2"/>
          <a:stretch/>
        </p:blipFill>
        <p:spPr>
          <a:xfrm>
            <a:off x="571680" y="2700360"/>
            <a:ext cx="5333760" cy="226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TextBox 3"/>
          <p:cNvSpPr/>
          <p:nvPr/>
        </p:nvSpPr>
        <p:spPr>
          <a:xfrm>
            <a:off x="961920" y="3090960"/>
            <a:ext cx="4552560" cy="11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9000"/>
              </a:lnSpc>
            </a:pPr>
            <a:r>
              <a:rPr lang="en-US" sz="9000" b="1" u="none" strike="noStrike">
                <a:solidFill>
                  <a:srgbClr val="2563EB"/>
                </a:solidFill>
                <a:effectLst/>
                <a:uFillTx/>
                <a:latin typeface="Poppins"/>
              </a:rPr>
              <a:t>99.9%</a:t>
            </a:r>
            <a:endParaRPr lang="pt-BR" sz="9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4"/>
          <p:cNvSpPr/>
          <p:nvPr/>
        </p:nvSpPr>
        <p:spPr>
          <a:xfrm>
            <a:off x="961920" y="4329000"/>
            <a:ext cx="4552560" cy="24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50" b="1" u="none" strike="noStrike">
                <a:solidFill>
                  <a:srgbClr val="1E293B"/>
                </a:solidFill>
                <a:effectLst/>
                <a:uFillTx/>
                <a:latin typeface="Inter"/>
              </a:rPr>
              <a:t>Disponibilidade dos Dados</a:t>
            </a:r>
            <a:endParaRPr lang="pt-BR" sz="16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5"/>
          <p:cNvSpPr/>
          <p:nvPr/>
        </p:nvSpPr>
        <p:spPr>
          <a:xfrm>
            <a:off x="6286680" y="2700360"/>
            <a:ext cx="56005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Consistência e Integridade ACID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6"/>
          <p:cNvSpPr/>
          <p:nvPr/>
        </p:nvSpPr>
        <p:spPr>
          <a:xfrm>
            <a:off x="6286680" y="3147840"/>
            <a:ext cx="5333760" cy="12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Bancos de dados relacionais garantem as propriedades ACID (Atomicidade, Consistência, Isolamento e Durabilidade). Isso assegura que transações complexas — como transferências bancárias ou vendas online — nunca deixem o sistema em um estado corrompido ou inconsistente.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7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Impacto da Estruturação de Dados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0" name="TextBox 2"/>
          <p:cNvSpPr/>
          <p:nvPr/>
        </p:nvSpPr>
        <p:spPr>
          <a:xfrm>
            <a:off x="5500800" y="2214720"/>
            <a:ext cx="11901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MÓDULO 02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1115280" y="2557440"/>
            <a:ext cx="996084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9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PHP + MySQL: A Combinação Clássica</a:t>
            </a:r>
            <a:endParaRPr lang="pt-BR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4"/>
          <p:cNvSpPr/>
          <p:nvPr/>
        </p:nvSpPr>
        <p:spPr>
          <a:xfrm>
            <a:off x="5715000" y="3681360"/>
            <a:ext cx="761760" cy="37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5"/>
          <p:cNvSpPr/>
          <p:nvPr/>
        </p:nvSpPr>
        <p:spPr>
          <a:xfrm>
            <a:off x="2523960" y="3957480"/>
            <a:ext cx="71434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2251"/>
              </a:lnSpc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Por que o ecossistema PHP com MySQL domina o desenvolvimento de sistemas de gestão e sites dinâmicos.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TextBox 2"/>
          <p:cNvSpPr/>
          <p:nvPr/>
        </p:nvSpPr>
        <p:spPr>
          <a:xfrm>
            <a:off x="1762200" y="2443320"/>
            <a:ext cx="90961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Integração Nativa: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O PHP foi concebido especificamente para a web e possui extensões otimizadas para comunicação direta com servidores MySQL.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3"/>
          <p:cNvSpPr/>
          <p:nvPr/>
        </p:nvSpPr>
        <p:spPr>
          <a:xfrm>
            <a:off x="1762200" y="3138480"/>
            <a:ext cx="90961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Código Aberto e Baixo Custo: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Ambas as tecnologias são open-source, reduzindo drasticamente custos de licenciamento em infraestrutura de servidores.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Box 4"/>
          <p:cNvSpPr/>
          <p:nvPr/>
        </p:nvSpPr>
        <p:spPr>
          <a:xfrm>
            <a:off x="1762200" y="3833640"/>
            <a:ext cx="90961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Alta Comunidade e Documentação: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Milhares de bibliotecas, frameworks (como Laravel e Symfony) e soluções para problemas comuns documentados mundialmente.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5"/>
          <p:cNvSpPr/>
          <p:nvPr/>
        </p:nvSpPr>
        <p:spPr>
          <a:xfrm>
            <a:off x="1762200" y="4529160"/>
            <a:ext cx="90961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Flexibilidade de Hospedagem: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Suportado por praticamente 100% dos provedores de hospedagem web no mercado global.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9" name="Picture 6" descr="image.png"/>
          <p:cNvPicPr/>
          <p:nvPr/>
        </p:nvPicPr>
        <p:blipFill>
          <a:blip r:embed="rId2"/>
          <a:stretch/>
        </p:blipFill>
        <p:spPr>
          <a:xfrm>
            <a:off x="1333440" y="2457360"/>
            <a:ext cx="20916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0" name="Picture 7" descr="image.png"/>
          <p:cNvPicPr/>
          <p:nvPr/>
        </p:nvPicPr>
        <p:blipFill>
          <a:blip r:embed="rId3"/>
          <a:stretch/>
        </p:blipFill>
        <p:spPr>
          <a:xfrm>
            <a:off x="1333440" y="3152880"/>
            <a:ext cx="20916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1" name="Picture 8" descr="image.png"/>
          <p:cNvPicPr/>
          <p:nvPr/>
        </p:nvPicPr>
        <p:blipFill>
          <a:blip r:embed="rId4"/>
          <a:stretch/>
        </p:blipFill>
        <p:spPr>
          <a:xfrm>
            <a:off x="1333440" y="3848040"/>
            <a:ext cx="20916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2" name="Picture 9" descr="image.png"/>
          <p:cNvPicPr/>
          <p:nvPr/>
        </p:nvPicPr>
        <p:blipFill>
          <a:blip r:embed="rId5"/>
          <a:stretch/>
        </p:blipFill>
        <p:spPr>
          <a:xfrm>
            <a:off x="1333440" y="4543560"/>
            <a:ext cx="20916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Box 10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Por Que Escolher PHP com MySQL?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5" name="Picture 2" descr="image.png"/>
          <p:cNvPicPr/>
          <p:nvPr/>
        </p:nvPicPr>
        <p:blipFill>
          <a:blip r:embed="rId2"/>
          <a:stretch/>
        </p:blipFill>
        <p:spPr>
          <a:xfrm>
            <a:off x="6286680" y="2023920"/>
            <a:ext cx="5333760" cy="361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TextBox 3"/>
          <p:cNvSpPr/>
          <p:nvPr/>
        </p:nvSpPr>
        <p:spPr>
          <a:xfrm>
            <a:off x="571680" y="2023920"/>
            <a:ext cx="56005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Tabelas, Chaves e Relacionamentos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571680" y="2471760"/>
            <a:ext cx="533376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No MySQL, os dados são organizados em tabelas contendo colunas (atributos) e linhas (registros).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Picture 5" descr="image.png"/>
          <p:cNvPicPr/>
          <p:nvPr/>
        </p:nvPicPr>
        <p:blipFill>
          <a:blip r:embed="rId3"/>
          <a:stretch/>
        </p:blipFill>
        <p:spPr>
          <a:xfrm>
            <a:off x="6286680" y="2023920"/>
            <a:ext cx="5333760" cy="3619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Box 6"/>
          <p:cNvSpPr/>
          <p:nvPr/>
        </p:nvSpPr>
        <p:spPr>
          <a:xfrm>
            <a:off x="1000080" y="3100320"/>
            <a:ext cx="49050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Chave Primária (PK):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Identificador único e inequívoco de um registro na tabela.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Box 7"/>
          <p:cNvSpPr/>
          <p:nvPr/>
        </p:nvSpPr>
        <p:spPr>
          <a:xfrm>
            <a:off x="1000080" y="3795840"/>
            <a:ext cx="49050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Chave Estrangeira (FK):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Conecta tabelas mantendo a integridade referencial dos dados.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Picture 8" descr="image.png"/>
          <p:cNvPicPr/>
          <p:nvPr/>
        </p:nvPicPr>
        <p:blipFill>
          <a:blip r:embed="rId4"/>
          <a:stretch/>
        </p:blipFill>
        <p:spPr>
          <a:xfrm>
            <a:off x="571680" y="3114720"/>
            <a:ext cx="20916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2" name="Picture 9" descr="image.png"/>
          <p:cNvPicPr/>
          <p:nvPr/>
        </p:nvPicPr>
        <p:blipFill>
          <a:blip r:embed="rId5"/>
          <a:stretch/>
        </p:blipFill>
        <p:spPr>
          <a:xfrm>
            <a:off x="571680" y="3809880"/>
            <a:ext cx="26640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Box 10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Modelagem Relacional no MySQL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graphicFrame>
        <p:nvGraphicFramePr>
          <p:cNvPr id="135" name="Table 2"/>
          <p:cNvGraphicFramePr/>
          <p:nvPr/>
        </p:nvGraphicFramePr>
        <p:xfrm>
          <a:off x="571680" y="1724040"/>
          <a:ext cx="11048760" cy="4219200"/>
        </p:xfrm>
        <a:graphic>
          <a:graphicData uri="http://schemas.openxmlformats.org/drawingml/2006/table">
            <a:tbl>
              <a:tblPr/>
              <a:tblGrid>
                <a:gridCol w="2559600"/>
                <a:gridCol w="2543400"/>
                <a:gridCol w="2159640"/>
                <a:gridCol w="3785760"/>
              </a:tblGrid>
              <a:tr h="84384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 SemiBold"/>
                        </a:rPr>
                        <a:t>Recurso / Característica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 SemiBold"/>
                        </a:rPr>
                        <a:t>InnoDB (Padrão)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 SemiBold"/>
                        </a:rPr>
                        <a:t>MyISAM (Legado)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5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oppins SemiBold"/>
                        </a:rPr>
                        <a:t>Impacto na Aplicação Web</a:t>
                      </a:r>
                      <a:endParaRPr lang="pt-BR" sz="135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0F172A"/>
                    </a:solidFill>
                  </a:tcPr>
                </a:tc>
              </a:tr>
              <a:tr h="84384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Suporte a Transações (ACID)</a:t>
                      </a:r>
                      <a:endParaRPr lang="pt-BR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25704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Sim</a:t>
                      </a:r>
                      <a:endParaRPr lang="pt-BR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704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2379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Não</a:t>
                      </a:r>
                      <a:endParaRPr lang="pt-BR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379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Essencial para sistemas financeiros e vendas.</a:t>
                      </a:r>
                      <a:endParaRPr lang="pt-BR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84384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Chaves Estrangeiras (FK)</a:t>
                      </a:r>
                      <a:endParaRPr lang="pt-BR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25704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Sim</a:t>
                      </a:r>
                      <a:endParaRPr lang="pt-BR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5704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2379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Não</a:t>
                      </a:r>
                      <a:endParaRPr lang="pt-BR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2379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Garante integridade entre dados vinculados.</a:t>
                      </a:r>
                      <a:endParaRPr lang="pt-BR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  <a:tr h="84384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Nível de Bloqueio (Locking)</a:t>
                      </a:r>
                      <a:endParaRPr lang="pt-BR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Por Linha (Row-level)</a:t>
                      </a:r>
                      <a:endParaRPr lang="pt-BR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Por Tabela (Table-level)</a:t>
                      </a:r>
                      <a:endParaRPr lang="pt-BR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InnoDB permite alta concorrência de acessos.</a:t>
                      </a:r>
                      <a:endParaRPr lang="pt-BR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  <a:tr h="843840"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Recuperação de Falhas</a:t>
                      </a:r>
                      <a:endParaRPr lang="pt-BR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Automática (Crash Recovery)</a:t>
                      </a:r>
                      <a:endParaRPr lang="pt-BR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Manual / Vulnerável</a:t>
                      </a:r>
                      <a:endParaRPr lang="pt-BR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 lIns="63360" tIns="25200" rIns="63360" bIns="2520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280" b="0" u="none" strike="noStrike">
                          <a:solidFill>
                            <a:srgbClr val="334155"/>
                          </a:solidFill>
                          <a:effectLst/>
                          <a:uFillTx/>
                          <a:latin typeface="Inter"/>
                        </a:rPr>
                        <a:t>InnoDB previne corrupção de dados em quedas.</a:t>
                      </a:r>
                      <a:endParaRPr lang="pt-BR" sz="128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63360" marR="63360" marT="25200" marB="2520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36" name="Rectangle 3"/>
          <p:cNvSpPr/>
          <p:nvPr/>
        </p:nvSpPr>
        <p:spPr>
          <a:xfrm>
            <a:off x="571680" y="2576520"/>
            <a:ext cx="2559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Rectangle 4"/>
          <p:cNvSpPr/>
          <p:nvPr/>
        </p:nvSpPr>
        <p:spPr>
          <a:xfrm>
            <a:off x="3131280" y="2576520"/>
            <a:ext cx="25430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Rectangle 5"/>
          <p:cNvSpPr/>
          <p:nvPr/>
        </p:nvSpPr>
        <p:spPr>
          <a:xfrm>
            <a:off x="5674680" y="2576520"/>
            <a:ext cx="21596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ectangle 6"/>
          <p:cNvSpPr/>
          <p:nvPr/>
        </p:nvSpPr>
        <p:spPr>
          <a:xfrm>
            <a:off x="7834680" y="2576520"/>
            <a:ext cx="3785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ectangle 7"/>
          <p:cNvSpPr/>
          <p:nvPr/>
        </p:nvSpPr>
        <p:spPr>
          <a:xfrm>
            <a:off x="571680" y="3414600"/>
            <a:ext cx="2559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Rectangle 8"/>
          <p:cNvSpPr/>
          <p:nvPr/>
        </p:nvSpPr>
        <p:spPr>
          <a:xfrm>
            <a:off x="3131280" y="3414600"/>
            <a:ext cx="25430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9"/>
          <p:cNvSpPr/>
          <p:nvPr/>
        </p:nvSpPr>
        <p:spPr>
          <a:xfrm>
            <a:off x="5674680" y="3414600"/>
            <a:ext cx="21596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Rectangle 10"/>
          <p:cNvSpPr/>
          <p:nvPr/>
        </p:nvSpPr>
        <p:spPr>
          <a:xfrm>
            <a:off x="7834680" y="3414600"/>
            <a:ext cx="3785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 11"/>
          <p:cNvSpPr/>
          <p:nvPr/>
        </p:nvSpPr>
        <p:spPr>
          <a:xfrm>
            <a:off x="571680" y="4253040"/>
            <a:ext cx="2559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Rectangle 12"/>
          <p:cNvSpPr/>
          <p:nvPr/>
        </p:nvSpPr>
        <p:spPr>
          <a:xfrm>
            <a:off x="3131280" y="4253040"/>
            <a:ext cx="25430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13"/>
          <p:cNvSpPr/>
          <p:nvPr/>
        </p:nvSpPr>
        <p:spPr>
          <a:xfrm>
            <a:off x="5674680" y="4253040"/>
            <a:ext cx="21596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14"/>
          <p:cNvSpPr/>
          <p:nvPr/>
        </p:nvSpPr>
        <p:spPr>
          <a:xfrm>
            <a:off x="7834680" y="4253040"/>
            <a:ext cx="3785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15"/>
          <p:cNvSpPr/>
          <p:nvPr/>
        </p:nvSpPr>
        <p:spPr>
          <a:xfrm>
            <a:off x="571680" y="5091120"/>
            <a:ext cx="2559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ectangle 16"/>
          <p:cNvSpPr/>
          <p:nvPr/>
        </p:nvSpPr>
        <p:spPr>
          <a:xfrm>
            <a:off x="3131280" y="5091120"/>
            <a:ext cx="25430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Rectangle 17"/>
          <p:cNvSpPr/>
          <p:nvPr/>
        </p:nvSpPr>
        <p:spPr>
          <a:xfrm>
            <a:off x="5674680" y="5091120"/>
            <a:ext cx="21596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Rectangle 18"/>
          <p:cNvSpPr/>
          <p:nvPr/>
        </p:nvSpPr>
        <p:spPr>
          <a:xfrm>
            <a:off x="7834680" y="5091120"/>
            <a:ext cx="3785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Rectangle 19"/>
          <p:cNvSpPr/>
          <p:nvPr/>
        </p:nvSpPr>
        <p:spPr>
          <a:xfrm>
            <a:off x="571680" y="5929200"/>
            <a:ext cx="25592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Rectangle 20"/>
          <p:cNvSpPr/>
          <p:nvPr/>
        </p:nvSpPr>
        <p:spPr>
          <a:xfrm>
            <a:off x="3131280" y="5929200"/>
            <a:ext cx="25430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ectangle 21"/>
          <p:cNvSpPr/>
          <p:nvPr/>
        </p:nvSpPr>
        <p:spPr>
          <a:xfrm>
            <a:off x="5674680" y="5929200"/>
            <a:ext cx="215964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Rectangle 22"/>
          <p:cNvSpPr/>
          <p:nvPr/>
        </p:nvSpPr>
        <p:spPr>
          <a:xfrm>
            <a:off x="7834680" y="5929200"/>
            <a:ext cx="3785400" cy="900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5640" rIns="90000" bIns="-35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6" name="Picture 23" descr="image.png"/>
          <p:cNvPicPr/>
          <p:nvPr/>
        </p:nvPicPr>
        <p:blipFill>
          <a:blip r:embed="rId2"/>
          <a:stretch/>
        </p:blipFill>
        <p:spPr>
          <a:xfrm>
            <a:off x="3359880" y="3750480"/>
            <a:ext cx="142560" cy="16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7" name="Picture 24" descr="image.png"/>
          <p:cNvPicPr/>
          <p:nvPr/>
        </p:nvPicPr>
        <p:blipFill>
          <a:blip r:embed="rId3"/>
          <a:stretch/>
        </p:blipFill>
        <p:spPr>
          <a:xfrm>
            <a:off x="3359880" y="2912400"/>
            <a:ext cx="142560" cy="16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8" name="Picture 25" descr="image.png"/>
          <p:cNvPicPr/>
          <p:nvPr/>
        </p:nvPicPr>
        <p:blipFill>
          <a:blip r:embed="rId4"/>
          <a:stretch/>
        </p:blipFill>
        <p:spPr>
          <a:xfrm>
            <a:off x="5903280" y="3750480"/>
            <a:ext cx="123480" cy="16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Picture 26" descr="image.png"/>
          <p:cNvPicPr/>
          <p:nvPr/>
        </p:nvPicPr>
        <p:blipFill>
          <a:blip r:embed="rId5"/>
          <a:stretch/>
        </p:blipFill>
        <p:spPr>
          <a:xfrm>
            <a:off x="5903280" y="2912400"/>
            <a:ext cx="123480" cy="16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0" name="Picture 27" descr="image.png"/>
          <p:cNvPicPr/>
          <p:nvPr/>
        </p:nvPicPr>
        <p:blipFill>
          <a:blip r:embed="rId6"/>
          <a:stretch/>
        </p:blipFill>
        <p:spPr>
          <a:xfrm>
            <a:off x="3359880" y="2912400"/>
            <a:ext cx="142560" cy="16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1" name="Picture 28" descr="image.png"/>
          <p:cNvPicPr/>
          <p:nvPr/>
        </p:nvPicPr>
        <p:blipFill>
          <a:blip r:embed="rId7"/>
          <a:stretch/>
        </p:blipFill>
        <p:spPr>
          <a:xfrm>
            <a:off x="5903280" y="2912400"/>
            <a:ext cx="123480" cy="16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2" name="Picture 29" descr="image.png"/>
          <p:cNvPicPr/>
          <p:nvPr/>
        </p:nvPicPr>
        <p:blipFill>
          <a:blip r:embed="rId8"/>
          <a:stretch/>
        </p:blipFill>
        <p:spPr>
          <a:xfrm>
            <a:off x="3359880" y="3750480"/>
            <a:ext cx="142560" cy="161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Picture 30" descr="image.png"/>
          <p:cNvPicPr/>
          <p:nvPr/>
        </p:nvPicPr>
        <p:blipFill>
          <a:blip r:embed="rId9"/>
          <a:stretch/>
        </p:blipFill>
        <p:spPr>
          <a:xfrm>
            <a:off x="5903280" y="3750480"/>
            <a:ext cx="123480" cy="161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4" name="TextBox 31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Motores de Armazenamento do MySQL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TextBox 2"/>
          <p:cNvSpPr/>
          <p:nvPr/>
        </p:nvSpPr>
        <p:spPr>
          <a:xfrm>
            <a:off x="5495760" y="2214720"/>
            <a:ext cx="11998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MÓDULO 03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3"/>
          <p:cNvSpPr/>
          <p:nvPr/>
        </p:nvSpPr>
        <p:spPr>
          <a:xfrm>
            <a:off x="610200" y="2557440"/>
            <a:ext cx="1097100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9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Arquitetura em Camadas (3-Tier &amp; MVC)</a:t>
            </a:r>
            <a:endParaRPr lang="pt-BR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4"/>
          <p:cNvSpPr/>
          <p:nvPr/>
        </p:nvSpPr>
        <p:spPr>
          <a:xfrm>
            <a:off x="5715000" y="3681360"/>
            <a:ext cx="761760" cy="37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5"/>
          <p:cNvSpPr/>
          <p:nvPr/>
        </p:nvSpPr>
        <p:spPr>
          <a:xfrm>
            <a:off x="2523960" y="3957480"/>
            <a:ext cx="71434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2251"/>
              </a:lnSpc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Como estruturar a aplicação para separar responsabilidades de interface, lógica e persistência.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1" name="Picture 2" descr="image.png"/>
          <p:cNvPicPr/>
          <p:nvPr/>
        </p:nvPicPr>
        <p:blipFill>
          <a:blip r:embed="rId2"/>
          <a:stretch/>
        </p:blipFill>
        <p:spPr>
          <a:xfrm>
            <a:off x="571680" y="2209680"/>
            <a:ext cx="3492360" cy="324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2" name="Picture 3" descr="image.png"/>
          <p:cNvPicPr/>
          <p:nvPr/>
        </p:nvPicPr>
        <p:blipFill>
          <a:blip r:embed="rId3"/>
          <a:stretch/>
        </p:blipFill>
        <p:spPr>
          <a:xfrm>
            <a:off x="4349880" y="2209680"/>
            <a:ext cx="3492360" cy="324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3" name="Picture 4" descr="image.png"/>
          <p:cNvPicPr/>
          <p:nvPr/>
        </p:nvPicPr>
        <p:blipFill>
          <a:blip r:embed="rId4"/>
          <a:stretch/>
        </p:blipFill>
        <p:spPr>
          <a:xfrm>
            <a:off x="8128080" y="2209680"/>
            <a:ext cx="3492360" cy="32475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Picture 5" descr="image.png"/>
          <p:cNvPicPr/>
          <p:nvPr/>
        </p:nvPicPr>
        <p:blipFill>
          <a:blip r:embed="rId5"/>
          <a:stretch/>
        </p:blipFill>
        <p:spPr>
          <a:xfrm>
            <a:off x="866880" y="253368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Picture 6" descr="image.png"/>
          <p:cNvPicPr/>
          <p:nvPr/>
        </p:nvPicPr>
        <p:blipFill>
          <a:blip r:embed="rId6"/>
          <a:stretch/>
        </p:blipFill>
        <p:spPr>
          <a:xfrm>
            <a:off x="4645080" y="253368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6" name="Picture 7" descr="image.png"/>
          <p:cNvPicPr/>
          <p:nvPr/>
        </p:nvPicPr>
        <p:blipFill>
          <a:blip r:embed="rId7"/>
          <a:stretch/>
        </p:blipFill>
        <p:spPr>
          <a:xfrm>
            <a:off x="8423280" y="253368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Box 8"/>
          <p:cNvSpPr/>
          <p:nvPr/>
        </p:nvSpPr>
        <p:spPr>
          <a:xfrm>
            <a:off x="866880" y="3295800"/>
            <a:ext cx="281988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1. Apresentação (View)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9"/>
          <p:cNvSpPr/>
          <p:nvPr/>
        </p:nvSpPr>
        <p:spPr>
          <a:xfrm>
            <a:off x="866880" y="3743280"/>
            <a:ext cx="290160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Interface com o usuário desenvolvida em HTML, CSS e JavaScript. Recebe as ações e exibe os resultados formatados.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0"/>
          <p:cNvSpPr/>
          <p:nvPr/>
        </p:nvSpPr>
        <p:spPr>
          <a:xfrm>
            <a:off x="4645080" y="3295800"/>
            <a:ext cx="25801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2. Lógica / Aplicação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11"/>
          <p:cNvSpPr/>
          <p:nvPr/>
        </p:nvSpPr>
        <p:spPr>
          <a:xfrm>
            <a:off x="4645080" y="3743280"/>
            <a:ext cx="290160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Processamento no PHP (Controllers/Services). Executa regras de negócio, validações e orquestra o fluxo de dados.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2"/>
          <p:cNvSpPr/>
          <p:nvPr/>
        </p:nvSpPr>
        <p:spPr>
          <a:xfrm>
            <a:off x="8423280" y="3295800"/>
            <a:ext cx="304668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3. Persistência (Model/DAO)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3"/>
          <p:cNvSpPr/>
          <p:nvPr/>
        </p:nvSpPr>
        <p:spPr>
          <a:xfrm>
            <a:off x="8423280" y="4076640"/>
            <a:ext cx="290160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Camada responsável por se comunicar com o MySQL via consultas SQL (PDO), isolando o acesso direto ao banco.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3" name="Picture 14" descr="image.png"/>
          <p:cNvPicPr/>
          <p:nvPr/>
        </p:nvPicPr>
        <p:blipFill>
          <a:blip r:embed="rId8"/>
          <a:stretch/>
        </p:blipFill>
        <p:spPr>
          <a:xfrm>
            <a:off x="1014480" y="2695680"/>
            <a:ext cx="27576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4" name="Picture 15" descr="image.png"/>
          <p:cNvPicPr/>
          <p:nvPr/>
        </p:nvPicPr>
        <p:blipFill>
          <a:blip r:embed="rId9"/>
          <a:stretch/>
        </p:blipFill>
        <p:spPr>
          <a:xfrm>
            <a:off x="4773600" y="2695680"/>
            <a:ext cx="31392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5" name="Picture 16" descr="image.png"/>
          <p:cNvPicPr/>
          <p:nvPr/>
        </p:nvPicPr>
        <p:blipFill>
          <a:blip r:embed="rId10"/>
          <a:stretch/>
        </p:blipFill>
        <p:spPr>
          <a:xfrm>
            <a:off x="8599680" y="2695680"/>
            <a:ext cx="21888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Box 17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Divisão de Responsabilidades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Picture 2" descr="image.png"/>
          <p:cNvPicPr/>
          <p:nvPr/>
        </p:nvPicPr>
        <p:blipFill>
          <a:blip r:embed="rId2"/>
          <a:stretch/>
        </p:blipFill>
        <p:spPr>
          <a:xfrm>
            <a:off x="571680" y="2762280"/>
            <a:ext cx="5333760" cy="2142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Picture 3" descr="image.png"/>
          <p:cNvPicPr/>
          <p:nvPr/>
        </p:nvPicPr>
        <p:blipFill>
          <a:blip r:embed="rId3"/>
          <a:stretch/>
        </p:blipFill>
        <p:spPr>
          <a:xfrm>
            <a:off x="6286680" y="2762280"/>
            <a:ext cx="5333760" cy="214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Box 4"/>
          <p:cNvSpPr/>
          <p:nvPr/>
        </p:nvSpPr>
        <p:spPr>
          <a:xfrm>
            <a:off x="914400" y="3067200"/>
            <a:ext cx="49201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Camada de Apresentação (Frontend)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5"/>
          <p:cNvSpPr/>
          <p:nvPr/>
        </p:nvSpPr>
        <p:spPr>
          <a:xfrm>
            <a:off x="914400" y="3514680"/>
            <a:ext cx="468612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Não deve ter conhecimento direto de SQL ou regras de banco. Sua única obrigação é capturar dados digitados pelo usuário (formulários) e renderizar elementos gráficos de maneira amigável.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6"/>
          <p:cNvSpPr/>
          <p:nvPr/>
        </p:nvSpPr>
        <p:spPr>
          <a:xfrm>
            <a:off x="6629400" y="3067200"/>
            <a:ext cx="49201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Camada de Aplicação (Backend PHP)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7"/>
          <p:cNvSpPr/>
          <p:nvPr/>
        </p:nvSpPr>
        <p:spPr>
          <a:xfrm>
            <a:off x="6629400" y="3514680"/>
            <a:ext cx="468612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Valida se os dados enviados pelo formulário são seguros e válidos (ex: e-mail correto, idade positiva). Intermedeia a requisição entre a visão e o repositório de dados.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Box 8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Detalhamento: Apresentação vs Lógica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Picture 2" descr="image.png"/>
          <p:cNvPicPr/>
          <p:nvPr/>
        </p:nvPicPr>
        <p:blipFill>
          <a:blip r:embed="rId2"/>
          <a:stretch/>
        </p:blipFill>
        <p:spPr>
          <a:xfrm>
            <a:off x="571680" y="2595600"/>
            <a:ext cx="5333760" cy="2476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7" name="Picture 3" descr="image.png"/>
          <p:cNvPicPr/>
          <p:nvPr/>
        </p:nvPicPr>
        <p:blipFill>
          <a:blip r:embed="rId3"/>
          <a:stretch/>
        </p:blipFill>
        <p:spPr>
          <a:xfrm>
            <a:off x="6286680" y="2595600"/>
            <a:ext cx="5333760" cy="2476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TextBox 4"/>
          <p:cNvSpPr/>
          <p:nvPr/>
        </p:nvSpPr>
        <p:spPr>
          <a:xfrm>
            <a:off x="914400" y="2900520"/>
            <a:ext cx="4920120" cy="66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Repositórios e DAOs (Data Access Object)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Box 5"/>
          <p:cNvSpPr/>
          <p:nvPr/>
        </p:nvSpPr>
        <p:spPr>
          <a:xfrm>
            <a:off x="914400" y="3681360"/>
            <a:ext cx="468612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Encapsulam toda a lógica de comandos SQL. A aplicação PHP chama métodos orientados a objetos como $userRepo-&gt;salvar($usuario) sem precisar escrever comandos SQL misturados com HTML.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Box 6"/>
          <p:cNvSpPr/>
          <p:nvPr/>
        </p:nvSpPr>
        <p:spPr>
          <a:xfrm>
            <a:off x="6629400" y="2900520"/>
            <a:ext cx="49201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Abstração do Banco de Dados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7"/>
          <p:cNvSpPr/>
          <p:nvPr/>
        </p:nvSpPr>
        <p:spPr>
          <a:xfrm>
            <a:off x="6629400" y="3348000"/>
            <a:ext cx="468612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Isolar o SQL em arquivos específicos permite alterar a estrutura do banco ou migrar de MySQL para PostgreSQL no futuro alterando apenas uma camada do sistema.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8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Detalhamento: Camada de Dados (Model)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4" name="TextBox 2"/>
          <p:cNvSpPr/>
          <p:nvPr/>
        </p:nvSpPr>
        <p:spPr>
          <a:xfrm>
            <a:off x="1762200" y="2685960"/>
            <a:ext cx="90961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Manutenibilidade: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Alterações no layout não impactam as consultas SQL, e alterações no banco não quebram o design.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3"/>
          <p:cNvSpPr/>
          <p:nvPr/>
        </p:nvSpPr>
        <p:spPr>
          <a:xfrm>
            <a:off x="1762200" y="3381480"/>
            <a:ext cx="90961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Testabilidade: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É possível realizar testes unitários na lógica de negócio sem precisar carregar a interface gráfica.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4"/>
          <p:cNvSpPr/>
          <p:nvPr/>
        </p:nvSpPr>
        <p:spPr>
          <a:xfrm>
            <a:off x="1762200" y="3833640"/>
            <a:ext cx="90961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Trabalho em Equipe: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Desenvolvedores Frontend e Backend podem trabalhar nos mesmos módulos simultaneamente.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5"/>
          <p:cNvSpPr/>
          <p:nvPr/>
        </p:nvSpPr>
        <p:spPr>
          <a:xfrm>
            <a:off x="1762200" y="4286160"/>
            <a:ext cx="90961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Segurança Aumentada: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Camadas intermediárias atuam como barreiras contra acessos não autorizados à base de dados.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8" name="Picture 6" descr="image.png"/>
          <p:cNvPicPr/>
          <p:nvPr/>
        </p:nvPicPr>
        <p:blipFill>
          <a:blip r:embed="rId2"/>
          <a:stretch/>
        </p:blipFill>
        <p:spPr>
          <a:xfrm>
            <a:off x="1333440" y="2700360"/>
            <a:ext cx="20916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09" name="Picture 7" descr="image.png"/>
          <p:cNvPicPr/>
          <p:nvPr/>
        </p:nvPicPr>
        <p:blipFill>
          <a:blip r:embed="rId3"/>
          <a:stretch/>
        </p:blipFill>
        <p:spPr>
          <a:xfrm>
            <a:off x="1333440" y="3395520"/>
            <a:ext cx="20916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0" name="Picture 8" descr="image.png"/>
          <p:cNvPicPr/>
          <p:nvPr/>
        </p:nvPicPr>
        <p:blipFill>
          <a:blip r:embed="rId4"/>
          <a:stretch/>
        </p:blipFill>
        <p:spPr>
          <a:xfrm>
            <a:off x="1333440" y="3848040"/>
            <a:ext cx="26640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1" name="Picture 9" descr="image.png"/>
          <p:cNvPicPr/>
          <p:nvPr/>
        </p:nvPicPr>
        <p:blipFill>
          <a:blip r:embed="rId5"/>
          <a:stretch/>
        </p:blipFill>
        <p:spPr>
          <a:xfrm>
            <a:off x="1333440" y="4300560"/>
            <a:ext cx="18072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2" name="TextBox 10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Vantagens do Desacoplamento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4" name="Picture 2" descr="image.png"/>
          <p:cNvPicPr/>
          <p:nvPr/>
        </p:nvPicPr>
        <p:blipFill>
          <a:blip r:embed="rId2"/>
          <a:stretch/>
        </p:blipFill>
        <p:spPr>
          <a:xfrm>
            <a:off x="571680" y="4309920"/>
            <a:ext cx="2540880" cy="160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5" name="Picture 3" descr="image.png"/>
          <p:cNvPicPr/>
          <p:nvPr/>
        </p:nvPicPr>
        <p:blipFill>
          <a:blip r:embed="rId3"/>
          <a:stretch/>
        </p:blipFill>
        <p:spPr>
          <a:xfrm>
            <a:off x="3407400" y="2133720"/>
            <a:ext cx="2540880" cy="160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6" name="Picture 4" descr="image.png"/>
          <p:cNvPicPr/>
          <p:nvPr/>
        </p:nvPicPr>
        <p:blipFill>
          <a:blip r:embed="rId4"/>
          <a:stretch/>
        </p:blipFill>
        <p:spPr>
          <a:xfrm>
            <a:off x="6243480" y="4309920"/>
            <a:ext cx="2540880" cy="1604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17" name="Picture 5" descr="image.png"/>
          <p:cNvPicPr/>
          <p:nvPr/>
        </p:nvPicPr>
        <p:blipFill>
          <a:blip r:embed="rId5"/>
          <a:stretch/>
        </p:blipFill>
        <p:spPr>
          <a:xfrm>
            <a:off x="9079200" y="2133720"/>
            <a:ext cx="2540880" cy="1604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8" name="Rectangle 6"/>
          <p:cNvSpPr/>
          <p:nvPr/>
        </p:nvSpPr>
        <p:spPr>
          <a:xfrm>
            <a:off x="571680" y="4005360"/>
            <a:ext cx="11048760" cy="3780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7"/>
          <p:cNvSpPr/>
          <p:nvPr/>
        </p:nvSpPr>
        <p:spPr>
          <a:xfrm>
            <a:off x="717840" y="4510080"/>
            <a:ext cx="2247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563EB"/>
                </a:solidFill>
                <a:effectLst/>
                <a:uFillTx/>
                <a:latin typeface="Poppins SemiBold"/>
              </a:rPr>
              <a:t>1. HTTP Request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8"/>
          <p:cNvSpPr/>
          <p:nvPr/>
        </p:nvSpPr>
        <p:spPr>
          <a:xfrm>
            <a:off x="771480" y="4871880"/>
            <a:ext cx="214092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Usuário envia dados via formulário HTML (POST/GET).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9"/>
          <p:cNvSpPr/>
          <p:nvPr/>
        </p:nvSpPr>
        <p:spPr>
          <a:xfrm>
            <a:off x="3553920" y="2333520"/>
            <a:ext cx="2247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563EB"/>
                </a:solidFill>
                <a:effectLst/>
                <a:uFillTx/>
                <a:latin typeface="Poppins SemiBold"/>
              </a:rPr>
              <a:t>2. Controller PHP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10"/>
          <p:cNvSpPr/>
          <p:nvPr/>
        </p:nvSpPr>
        <p:spPr>
          <a:xfrm>
            <a:off x="3607560" y="2695680"/>
            <a:ext cx="214092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PHP recebe a requisição, sanitiza os dados e valida as regras.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Box 11"/>
          <p:cNvSpPr/>
          <p:nvPr/>
        </p:nvSpPr>
        <p:spPr>
          <a:xfrm>
            <a:off x="6390000" y="4510080"/>
            <a:ext cx="2247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563EB"/>
                </a:solidFill>
                <a:effectLst/>
                <a:uFillTx/>
                <a:latin typeface="Poppins SemiBold"/>
              </a:rPr>
              <a:t>3. Execução SQL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Box 12"/>
          <p:cNvSpPr/>
          <p:nvPr/>
        </p:nvSpPr>
        <p:spPr>
          <a:xfrm>
            <a:off x="6443280" y="4871880"/>
            <a:ext cx="214092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Model PDO executa a consulta segura no banco MySQL.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3"/>
          <p:cNvSpPr/>
          <p:nvPr/>
        </p:nvSpPr>
        <p:spPr>
          <a:xfrm>
            <a:off x="9225720" y="2333520"/>
            <a:ext cx="2247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563EB"/>
                </a:solidFill>
                <a:effectLst/>
                <a:uFillTx/>
                <a:latin typeface="Poppins SemiBold"/>
              </a:rPr>
              <a:t>4. Response View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4"/>
          <p:cNvSpPr/>
          <p:nvPr/>
        </p:nvSpPr>
        <p:spPr>
          <a:xfrm>
            <a:off x="9279360" y="2695680"/>
            <a:ext cx="214092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O resultado do banco é devolvido e exibido no HTML.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Box 15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Fluxo da Requisição entre Camadas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Rounded Rectangle 16"/>
          <p:cNvSpPr/>
          <p:nvPr/>
        </p:nvSpPr>
        <p:spPr>
          <a:xfrm>
            <a:off x="1737360" y="3919680"/>
            <a:ext cx="209160" cy="209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Rounded Rectangle 17"/>
          <p:cNvSpPr/>
          <p:nvPr/>
        </p:nvSpPr>
        <p:spPr>
          <a:xfrm>
            <a:off x="4573440" y="3919680"/>
            <a:ext cx="209160" cy="209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0" name="Rounded Rectangle 18"/>
          <p:cNvSpPr/>
          <p:nvPr/>
        </p:nvSpPr>
        <p:spPr>
          <a:xfrm>
            <a:off x="7409160" y="3919680"/>
            <a:ext cx="209160" cy="209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1" name="Rounded Rectangle 19"/>
          <p:cNvSpPr/>
          <p:nvPr/>
        </p:nvSpPr>
        <p:spPr>
          <a:xfrm>
            <a:off x="10245240" y="3919680"/>
            <a:ext cx="209160" cy="209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TextBox 2"/>
          <p:cNvSpPr/>
          <p:nvPr/>
        </p:nvSpPr>
        <p:spPr>
          <a:xfrm>
            <a:off x="5495760" y="2214720"/>
            <a:ext cx="11998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MÓDULO 04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3"/>
          <p:cNvSpPr/>
          <p:nvPr/>
        </p:nvSpPr>
        <p:spPr>
          <a:xfrm>
            <a:off x="2070360" y="2557440"/>
            <a:ext cx="805068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9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Conexão Segura com PHP PDO</a:t>
            </a:r>
            <a:endParaRPr lang="pt-BR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Rectangle 4"/>
          <p:cNvSpPr/>
          <p:nvPr/>
        </p:nvSpPr>
        <p:spPr>
          <a:xfrm>
            <a:off x="5715000" y="3681360"/>
            <a:ext cx="761760" cy="37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5"/>
          <p:cNvSpPr/>
          <p:nvPr/>
        </p:nvSpPr>
        <p:spPr>
          <a:xfrm>
            <a:off x="2523960" y="3957480"/>
            <a:ext cx="71434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2251"/>
              </a:lnSpc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A biblioteca PDO (PHP Data Objects) como padrão moderno para abstração e comunicação segura.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8" name="TextBox 2"/>
          <p:cNvSpPr/>
          <p:nvPr/>
        </p:nvSpPr>
        <p:spPr>
          <a:xfrm>
            <a:off x="1762200" y="2807640"/>
            <a:ext cx="90961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Suporte Multi-Banco: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O PDO aceita MySQL, PostgreSQL, SQLite, Oracle e SQL Server alterando apenas a string de conexão.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3"/>
          <p:cNvSpPr/>
          <p:nvPr/>
        </p:nvSpPr>
        <p:spPr>
          <a:xfrm>
            <a:off x="1762200" y="3502800"/>
            <a:ext cx="90961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Orientação a Objetos Limpa: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Interface moderna com manipulação clara de objetos e conjuntos de resultados.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4"/>
          <p:cNvSpPr/>
          <p:nvPr/>
        </p:nvSpPr>
        <p:spPr>
          <a:xfrm>
            <a:off x="1762200" y="3955320"/>
            <a:ext cx="90961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Prepared Statements Nativo: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Proteção nativa e simplificada contra ataque de Injeção de SQL (SQL Injection).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5"/>
          <p:cNvSpPr/>
          <p:nvPr/>
        </p:nvSpPr>
        <p:spPr>
          <a:xfrm>
            <a:off x="1762200" y="4407840"/>
            <a:ext cx="90961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Tratamento Uniforme de Erros: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Lança exceções capturáveis (PDOException) para diagnósticos precisos.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2" name="Picture 6" descr="image.png"/>
          <p:cNvPicPr/>
          <p:nvPr/>
        </p:nvPicPr>
        <p:blipFill>
          <a:blip r:embed="rId2"/>
          <a:stretch/>
        </p:blipFill>
        <p:spPr>
          <a:xfrm>
            <a:off x="1333440" y="2821680"/>
            <a:ext cx="23760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3" name="Picture 7" descr="image.png"/>
          <p:cNvPicPr/>
          <p:nvPr/>
        </p:nvPicPr>
        <p:blipFill>
          <a:blip r:embed="rId3"/>
          <a:stretch/>
        </p:blipFill>
        <p:spPr>
          <a:xfrm>
            <a:off x="1333440" y="3517200"/>
            <a:ext cx="26640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4" name="Picture 8" descr="image.png"/>
          <p:cNvPicPr/>
          <p:nvPr/>
        </p:nvPicPr>
        <p:blipFill>
          <a:blip r:embed="rId4"/>
          <a:stretch/>
        </p:blipFill>
        <p:spPr>
          <a:xfrm>
            <a:off x="1333440" y="3969720"/>
            <a:ext cx="20916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5" name="Picture 9" descr="image.png"/>
          <p:cNvPicPr/>
          <p:nvPr/>
        </p:nvPicPr>
        <p:blipFill>
          <a:blip r:embed="rId5"/>
          <a:stretch/>
        </p:blipFill>
        <p:spPr>
          <a:xfrm>
            <a:off x="1333440" y="4421880"/>
            <a:ext cx="20916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TextBox 10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Por Que Usar PDO em Vez de mysqli?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8" name="Picture 2" descr="image.png"/>
          <p:cNvPicPr/>
          <p:nvPr/>
        </p:nvPicPr>
        <p:blipFill>
          <a:blip r:embed="rId2"/>
          <a:stretch/>
        </p:blipFill>
        <p:spPr>
          <a:xfrm>
            <a:off x="571680" y="2460960"/>
            <a:ext cx="5509800" cy="274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9" name="Picture 3" descr="image.png"/>
          <p:cNvPicPr/>
          <p:nvPr/>
        </p:nvPicPr>
        <p:blipFill>
          <a:blip r:embed="rId3"/>
          <a:stretch/>
        </p:blipFill>
        <p:spPr>
          <a:xfrm>
            <a:off x="6462720" y="2460960"/>
            <a:ext cx="5157720" cy="274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0" name="Picture 4" descr="image.png"/>
          <p:cNvPicPr/>
          <p:nvPr/>
        </p:nvPicPr>
        <p:blipFill>
          <a:blip r:embed="rId4"/>
          <a:stretch/>
        </p:blipFill>
        <p:spPr>
          <a:xfrm>
            <a:off x="914400" y="4056480"/>
            <a:ext cx="4862160" cy="65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1" name="Picture 5" descr="image.png"/>
          <p:cNvPicPr/>
          <p:nvPr/>
        </p:nvPicPr>
        <p:blipFill>
          <a:blip r:embed="rId5"/>
          <a:stretch/>
        </p:blipFill>
        <p:spPr>
          <a:xfrm>
            <a:off x="6805440" y="4056480"/>
            <a:ext cx="4509720" cy="845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TextBox 6"/>
          <p:cNvSpPr/>
          <p:nvPr/>
        </p:nvSpPr>
        <p:spPr>
          <a:xfrm>
            <a:off x="914400" y="2765520"/>
            <a:ext cx="51051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String DSN (Data Source Name)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7"/>
          <p:cNvSpPr/>
          <p:nvPr/>
        </p:nvSpPr>
        <p:spPr>
          <a:xfrm>
            <a:off x="914400" y="3213360"/>
            <a:ext cx="486216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Define o driver, o servidor (host), o nome do banco de dados e a codificação de caracteres (ex: utf8mb4 para suporte completo a caracteres especiais).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8"/>
          <p:cNvSpPr/>
          <p:nvPr/>
        </p:nvSpPr>
        <p:spPr>
          <a:xfrm>
            <a:off x="6805440" y="2765520"/>
            <a:ext cx="473544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Credenciais e Atributos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9"/>
          <p:cNvSpPr/>
          <p:nvPr/>
        </p:nvSpPr>
        <p:spPr>
          <a:xfrm>
            <a:off x="6805440" y="3213360"/>
            <a:ext cx="450972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Passagem de usuário, senha e opções de configuração, como o modo de erros (throw Exception) e busca como array associativo.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10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Estrutura de Conexão com PDO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8" name="TextBox 2"/>
          <p:cNvSpPr/>
          <p:nvPr/>
        </p:nvSpPr>
        <p:spPr>
          <a:xfrm>
            <a:off x="1762200" y="2790720"/>
            <a:ext cx="90961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Captura de Falhas: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Bloco try { ... } catch (PDOException $e) { ... } evita a exibição de telas de erro genéricas e inseguras.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3"/>
          <p:cNvSpPr/>
          <p:nvPr/>
        </p:nvSpPr>
        <p:spPr>
          <a:xfrm>
            <a:off x="1762200" y="3486240"/>
            <a:ext cx="90961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Ocultação de Credenciais: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Erros não tratados podem expor a senha do banco no código HTML público. O tratamento adequado oculta esses detalhes.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Box 4"/>
          <p:cNvSpPr/>
          <p:nvPr/>
        </p:nvSpPr>
        <p:spPr>
          <a:xfrm>
            <a:off x="1762200" y="4181400"/>
            <a:ext cx="90961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Logging Profissional: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Em ambientes de produção, erros de banco devem ser gravados em arquivos de log internos e não na tela do usuário.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1" name="Picture 5" descr="image.png"/>
          <p:cNvPicPr/>
          <p:nvPr/>
        </p:nvPicPr>
        <p:blipFill>
          <a:blip r:embed="rId2"/>
          <a:stretch/>
        </p:blipFill>
        <p:spPr>
          <a:xfrm>
            <a:off x="1333440" y="2805120"/>
            <a:ext cx="20916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2" name="Picture 6" descr="image.png"/>
          <p:cNvPicPr/>
          <p:nvPr/>
        </p:nvPicPr>
        <p:blipFill>
          <a:blip r:embed="rId3"/>
          <a:stretch/>
        </p:blipFill>
        <p:spPr>
          <a:xfrm>
            <a:off x="1333440" y="3500280"/>
            <a:ext cx="26640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3" name="Picture 7" descr="image.png"/>
          <p:cNvPicPr/>
          <p:nvPr/>
        </p:nvPicPr>
        <p:blipFill>
          <a:blip r:embed="rId4"/>
          <a:stretch/>
        </p:blipFill>
        <p:spPr>
          <a:xfrm>
            <a:off x="1333440" y="4195800"/>
            <a:ext cx="16164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TextBox 8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Tratamento de Erros com Try-Catch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6" name="TextBox 2"/>
          <p:cNvSpPr/>
          <p:nvPr/>
        </p:nvSpPr>
        <p:spPr>
          <a:xfrm>
            <a:off x="5500800" y="2214720"/>
            <a:ext cx="11901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MÓDULO 05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3"/>
          <p:cNvSpPr/>
          <p:nvPr/>
        </p:nvSpPr>
        <p:spPr>
          <a:xfrm>
            <a:off x="1420560" y="2557440"/>
            <a:ext cx="935064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9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Explanação Passo a Passo do CRUD</a:t>
            </a:r>
            <a:endParaRPr lang="pt-BR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ectangle 4"/>
          <p:cNvSpPr/>
          <p:nvPr/>
        </p:nvSpPr>
        <p:spPr>
          <a:xfrm>
            <a:off x="5715000" y="3681360"/>
            <a:ext cx="761760" cy="37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9" name="TextBox 5"/>
          <p:cNvSpPr/>
          <p:nvPr/>
        </p:nvSpPr>
        <p:spPr>
          <a:xfrm>
            <a:off x="2523960" y="3957480"/>
            <a:ext cx="71434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2251"/>
              </a:lnSpc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Tutorial prático: Create (Inserir), Read (Consultar), Update (Atualizar) e Delete (Excluir).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1" name="Picture 2" descr="image.png"/>
          <p:cNvPicPr/>
          <p:nvPr/>
        </p:nvPicPr>
        <p:blipFill>
          <a:blip r:embed="rId2"/>
          <a:stretch/>
        </p:blipFill>
        <p:spPr>
          <a:xfrm>
            <a:off x="571680" y="4309920"/>
            <a:ext cx="2540880" cy="136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2" name="Picture 3" descr="image.png"/>
          <p:cNvPicPr/>
          <p:nvPr/>
        </p:nvPicPr>
        <p:blipFill>
          <a:blip r:embed="rId3"/>
          <a:stretch/>
        </p:blipFill>
        <p:spPr>
          <a:xfrm>
            <a:off x="3407400" y="2376360"/>
            <a:ext cx="2540880" cy="136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3" name="Picture 4" descr="image.png"/>
          <p:cNvPicPr/>
          <p:nvPr/>
        </p:nvPicPr>
        <p:blipFill>
          <a:blip r:embed="rId4"/>
          <a:stretch/>
        </p:blipFill>
        <p:spPr>
          <a:xfrm>
            <a:off x="6243480" y="4309920"/>
            <a:ext cx="2540880" cy="1361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4" name="Picture 5" descr="image.png"/>
          <p:cNvPicPr/>
          <p:nvPr/>
        </p:nvPicPr>
        <p:blipFill>
          <a:blip r:embed="rId5"/>
          <a:stretch/>
        </p:blipFill>
        <p:spPr>
          <a:xfrm>
            <a:off x="9079200" y="2090880"/>
            <a:ext cx="2540880" cy="164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Rectangle 6"/>
          <p:cNvSpPr/>
          <p:nvPr/>
        </p:nvSpPr>
        <p:spPr>
          <a:xfrm>
            <a:off x="571680" y="4005360"/>
            <a:ext cx="11048760" cy="3780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Box 7"/>
          <p:cNvSpPr/>
          <p:nvPr/>
        </p:nvSpPr>
        <p:spPr>
          <a:xfrm>
            <a:off x="717840" y="4510080"/>
            <a:ext cx="2247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563EB"/>
                </a:solidFill>
                <a:effectLst/>
                <a:uFillTx/>
                <a:latin typeface="Poppins SemiBold"/>
              </a:rPr>
              <a:t>Passo 1: Banco SQL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8"/>
          <p:cNvSpPr/>
          <p:nvPr/>
        </p:nvSpPr>
        <p:spPr>
          <a:xfrm>
            <a:off x="771480" y="4871880"/>
            <a:ext cx="21409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Criação do banco e da tabela no MySQL.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9"/>
          <p:cNvSpPr/>
          <p:nvPr/>
        </p:nvSpPr>
        <p:spPr>
          <a:xfrm>
            <a:off x="3553920" y="2576520"/>
            <a:ext cx="2247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563EB"/>
                </a:solidFill>
                <a:effectLst/>
                <a:uFillTx/>
                <a:latin typeface="Poppins SemiBold"/>
              </a:rPr>
              <a:t>Passo 2: Conexão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10"/>
          <p:cNvSpPr/>
          <p:nvPr/>
        </p:nvSpPr>
        <p:spPr>
          <a:xfrm>
            <a:off x="3607560" y="2938320"/>
            <a:ext cx="21409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Script PHP centralizado com classe PDO.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11"/>
          <p:cNvSpPr/>
          <p:nvPr/>
        </p:nvSpPr>
        <p:spPr>
          <a:xfrm>
            <a:off x="6390000" y="4510080"/>
            <a:ext cx="224784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563EB"/>
                </a:solidFill>
                <a:effectLst/>
                <a:uFillTx/>
                <a:latin typeface="Poppins SemiBold"/>
              </a:rPr>
              <a:t>Passo 3: Inserção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12"/>
          <p:cNvSpPr/>
          <p:nvPr/>
        </p:nvSpPr>
        <p:spPr>
          <a:xfrm>
            <a:off x="6443280" y="4871880"/>
            <a:ext cx="21409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Formulário HTML e SQL INSERT preparado.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Box 13"/>
          <p:cNvSpPr/>
          <p:nvPr/>
        </p:nvSpPr>
        <p:spPr>
          <a:xfrm>
            <a:off x="9225720" y="2290680"/>
            <a:ext cx="224784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2563EB"/>
                </a:solidFill>
                <a:effectLst/>
                <a:uFillTx/>
                <a:latin typeface="Poppins SemiBold"/>
              </a:rPr>
              <a:t>Passo 4: Consulta/Edit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14"/>
          <p:cNvSpPr/>
          <p:nvPr/>
        </p:nvSpPr>
        <p:spPr>
          <a:xfrm>
            <a:off x="9279360" y="2938320"/>
            <a:ext cx="21409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Listagem (SELECT), UPDATE e DELETE.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15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Roteiro de Construção do CRUD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ounded Rectangle 16"/>
          <p:cNvSpPr/>
          <p:nvPr/>
        </p:nvSpPr>
        <p:spPr>
          <a:xfrm>
            <a:off x="1737360" y="3919680"/>
            <a:ext cx="209160" cy="209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Rounded Rectangle 17"/>
          <p:cNvSpPr/>
          <p:nvPr/>
        </p:nvSpPr>
        <p:spPr>
          <a:xfrm>
            <a:off x="4573440" y="3919680"/>
            <a:ext cx="209160" cy="209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Rounded Rectangle 18"/>
          <p:cNvSpPr/>
          <p:nvPr/>
        </p:nvSpPr>
        <p:spPr>
          <a:xfrm>
            <a:off x="7409160" y="3919680"/>
            <a:ext cx="209160" cy="209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8" name="Rounded Rectangle 19"/>
          <p:cNvSpPr/>
          <p:nvPr/>
        </p:nvSpPr>
        <p:spPr>
          <a:xfrm>
            <a:off x="10245240" y="3919680"/>
            <a:ext cx="209160" cy="2091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0" name="TextBox 2"/>
          <p:cNvSpPr/>
          <p:nvPr/>
        </p:nvSpPr>
        <p:spPr>
          <a:xfrm>
            <a:off x="1762200" y="2928960"/>
            <a:ext cx="90961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Criação da Tabela usuarios: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Define a estrutura inicial de armazenamento no MySQL.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3"/>
          <p:cNvSpPr/>
          <p:nvPr/>
        </p:nvSpPr>
        <p:spPr>
          <a:xfrm>
            <a:off x="1762200" y="3381480"/>
            <a:ext cx="90961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Campo id: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Tipo INT AUTO_INCREMENT PRIMARY KEY para cada novo registro.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4"/>
          <p:cNvSpPr/>
          <p:nvPr/>
        </p:nvSpPr>
        <p:spPr>
          <a:xfrm>
            <a:off x="1762200" y="3833640"/>
            <a:ext cx="90961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Campos nome e email: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Tipos VARCHAR(100) NOT NULL garantindo preenchimento obrigatório.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5"/>
          <p:cNvSpPr/>
          <p:nvPr/>
        </p:nvSpPr>
        <p:spPr>
          <a:xfrm>
            <a:off x="1762200" y="4286160"/>
            <a:ext cx="90961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Campo criado_em: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Tipo TIMESTAMP DEFAULT CURRENT_TIMESTAMP para registro cronológico automático.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4" name="Picture 6" descr="image.png"/>
          <p:cNvPicPr/>
          <p:nvPr/>
        </p:nvPicPr>
        <p:blipFill>
          <a:blip r:embed="rId2"/>
          <a:stretch/>
        </p:blipFill>
        <p:spPr>
          <a:xfrm>
            <a:off x="1333440" y="2943360"/>
            <a:ext cx="18072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5" name="Picture 7" descr="image.png"/>
          <p:cNvPicPr/>
          <p:nvPr/>
        </p:nvPicPr>
        <p:blipFill>
          <a:blip r:embed="rId3"/>
          <a:stretch/>
        </p:blipFill>
        <p:spPr>
          <a:xfrm>
            <a:off x="1333440" y="3395520"/>
            <a:ext cx="20916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6" name="Picture 8" descr="image.png"/>
          <p:cNvPicPr/>
          <p:nvPr/>
        </p:nvPicPr>
        <p:blipFill>
          <a:blip r:embed="rId4"/>
          <a:stretch/>
        </p:blipFill>
        <p:spPr>
          <a:xfrm>
            <a:off x="1333440" y="3848040"/>
            <a:ext cx="18072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7" name="Picture 9" descr="image.png"/>
          <p:cNvPicPr/>
          <p:nvPr/>
        </p:nvPicPr>
        <p:blipFill>
          <a:blip r:embed="rId5"/>
          <a:stretch/>
        </p:blipFill>
        <p:spPr>
          <a:xfrm>
            <a:off x="1333440" y="4300560"/>
            <a:ext cx="20916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8" name="TextBox 10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Passo 1: Definição da Tabela SQL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TextBox 2"/>
          <p:cNvSpPr/>
          <p:nvPr/>
        </p:nvSpPr>
        <p:spPr>
          <a:xfrm>
            <a:off x="1762200" y="3033720"/>
            <a:ext cx="90961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Método HTTP POST: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Garante que os dados enviados pelo formulário trafeguem no corpo da requisição e não visíveis na URL.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3"/>
          <p:cNvSpPr/>
          <p:nvPr/>
        </p:nvSpPr>
        <p:spPr>
          <a:xfrm>
            <a:off x="1762200" y="3728880"/>
            <a:ext cx="90961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Atributos name: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Identificadores dos campos usados pelo PHP para ler as variáveis ($_POST['nome']).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4"/>
          <p:cNvSpPr/>
          <p:nvPr/>
        </p:nvSpPr>
        <p:spPr>
          <a:xfrm>
            <a:off x="1762200" y="4181400"/>
            <a:ext cx="90961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Validação Client-side: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Atributos HTML5 como required e type="email" para primeira barreira de entrada.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3" name="Picture 5" descr="image.png"/>
          <p:cNvPicPr/>
          <p:nvPr/>
        </p:nvPicPr>
        <p:blipFill>
          <a:blip r:embed="rId2"/>
          <a:stretch/>
        </p:blipFill>
        <p:spPr>
          <a:xfrm>
            <a:off x="1333440" y="3048120"/>
            <a:ext cx="20916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4" name="Picture 6" descr="image.png"/>
          <p:cNvPicPr/>
          <p:nvPr/>
        </p:nvPicPr>
        <p:blipFill>
          <a:blip r:embed="rId3"/>
          <a:stretch/>
        </p:blipFill>
        <p:spPr>
          <a:xfrm>
            <a:off x="1333440" y="4195800"/>
            <a:ext cx="20916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5" name="TextBox 7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Passo 2: Formulário HTML (Create)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7" name="TextBox 2"/>
          <p:cNvSpPr/>
          <p:nvPr/>
        </p:nvSpPr>
        <p:spPr>
          <a:xfrm>
            <a:off x="1762200" y="2790720"/>
            <a:ext cx="909612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1. Preparar a Consulta (Prepare):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$stmt = $pdo-&gt;prepare("INSERT INTO usuarios (nome, email) VALUES (:nome, :email)");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Box 3"/>
          <p:cNvSpPr/>
          <p:nvPr/>
        </p:nvSpPr>
        <p:spPr>
          <a:xfrm>
            <a:off x="1762200" y="3486240"/>
            <a:ext cx="909612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2. Vincular Parâmetros (Bind):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$stmt-&gt;bindParam(':nome', $nome); $stmt-&gt;bindParam(':email', $email);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4"/>
          <p:cNvSpPr/>
          <p:nvPr/>
        </p:nvSpPr>
        <p:spPr>
          <a:xfrm>
            <a:off x="1762200" y="4181400"/>
            <a:ext cx="909612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3. Executar o Comando (Execute):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$stmt-&gt;execute(); — Garante envio seguro e imune a comandos maliciosos.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0" name="Picture 5" descr="image.png"/>
          <p:cNvPicPr/>
          <p:nvPr/>
        </p:nvPicPr>
        <p:blipFill>
          <a:blip r:embed="rId2"/>
          <a:stretch/>
        </p:blipFill>
        <p:spPr>
          <a:xfrm>
            <a:off x="1333440" y="2805120"/>
            <a:ext cx="26640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1" name="Picture 6" descr="image.png"/>
          <p:cNvPicPr/>
          <p:nvPr/>
        </p:nvPicPr>
        <p:blipFill>
          <a:blip r:embed="rId3"/>
          <a:stretch/>
        </p:blipFill>
        <p:spPr>
          <a:xfrm>
            <a:off x="1333440" y="3500280"/>
            <a:ext cx="26640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2" name="Picture 7" descr="image.png"/>
          <p:cNvPicPr/>
          <p:nvPr/>
        </p:nvPicPr>
        <p:blipFill>
          <a:blip r:embed="rId4"/>
          <a:stretch/>
        </p:blipFill>
        <p:spPr>
          <a:xfrm>
            <a:off x="1333440" y="4195800"/>
            <a:ext cx="16164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TextBox 8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Passo 3: Executando o INSERT com PDO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5" name="Picture 2" descr="image.png"/>
          <p:cNvPicPr/>
          <p:nvPr/>
        </p:nvPicPr>
        <p:blipFill>
          <a:blip r:embed="rId2"/>
          <a:stretch/>
        </p:blipFill>
        <p:spPr>
          <a:xfrm>
            <a:off x="571680" y="1285920"/>
            <a:ext cx="11048760" cy="5095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TextBox 3"/>
          <p:cNvSpPr/>
          <p:nvPr/>
        </p:nvSpPr>
        <p:spPr>
          <a:xfrm>
            <a:off x="747000" y="4593600"/>
            <a:ext cx="1069740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1913"/>
              </a:lnSpc>
            </a:pPr>
            <a:r>
              <a:rPr lang="en-US" sz="1280" b="0" i="1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Comando SELECT * FROM usuarios indexado + fetchAll(PDO::FETCH_ASSOC) retorna arrays eficientes para laços foreach no HTML.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4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Passo 4: Leitura de Dados (READ)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9" name="TextBox 2"/>
          <p:cNvSpPr/>
          <p:nvPr/>
        </p:nvSpPr>
        <p:spPr>
          <a:xfrm>
            <a:off x="1762200" y="2912400"/>
            <a:ext cx="90961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Comando UPDATE: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Exige obrigatoriamente a cláusula WHERE id = :id. Sem ela, todos os registros da tabela seriam alterados simultaneamente.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3"/>
          <p:cNvSpPr/>
          <p:nvPr/>
        </p:nvSpPr>
        <p:spPr>
          <a:xfrm>
            <a:off x="1762200" y="3607560"/>
            <a:ext cx="90961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Comando DELETE: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Remove o registro pelo ID específico também via Prepared Statements.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Box 4"/>
          <p:cNvSpPr/>
          <p:nvPr/>
        </p:nvSpPr>
        <p:spPr>
          <a:xfrm>
            <a:off x="1762200" y="4060080"/>
            <a:ext cx="909612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1" u="none" strike="noStrike">
                <a:solidFill>
                  <a:srgbClr val="0F172A"/>
                </a:solidFill>
                <a:effectLst/>
                <a:uFillTx/>
                <a:latin typeface="Inter"/>
              </a:rPr>
              <a:t>Redirecionamento HTTP:</a:t>
            </a: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 Utilização da função header("Location: index.php"); após a alteração para evitar o reenvio duplicado do formulário pelo F5.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2" name="Picture 5" descr="image.png"/>
          <p:cNvPicPr/>
          <p:nvPr/>
        </p:nvPicPr>
        <p:blipFill>
          <a:blip r:embed="rId2"/>
          <a:stretch/>
        </p:blipFill>
        <p:spPr>
          <a:xfrm>
            <a:off x="1333440" y="2926440"/>
            <a:ext cx="20916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3" name="Picture 6" descr="image.png"/>
          <p:cNvPicPr/>
          <p:nvPr/>
        </p:nvPicPr>
        <p:blipFill>
          <a:blip r:embed="rId3"/>
          <a:stretch/>
        </p:blipFill>
        <p:spPr>
          <a:xfrm>
            <a:off x="1333440" y="3621960"/>
            <a:ext cx="180720" cy="218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4" name="Picture 7" descr="image.png"/>
          <p:cNvPicPr/>
          <p:nvPr/>
        </p:nvPicPr>
        <p:blipFill>
          <a:blip r:embed="rId4"/>
          <a:stretch/>
        </p:blipFill>
        <p:spPr>
          <a:xfrm>
            <a:off x="1333440" y="4074480"/>
            <a:ext cx="209160" cy="21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5" name="TextBox 8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Passo 5: Atualização e Exclusão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7" name="TextBox 2"/>
          <p:cNvSpPr/>
          <p:nvPr/>
        </p:nvSpPr>
        <p:spPr>
          <a:xfrm>
            <a:off x="5495760" y="2214720"/>
            <a:ext cx="11998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50" b="1" u="none" strike="noStrike">
                <a:solidFill>
                  <a:srgbClr val="2563EB"/>
                </a:solidFill>
                <a:effectLst/>
                <a:uFillTx/>
                <a:latin typeface="Inter"/>
              </a:rPr>
              <a:t>MÓDULO 06</a:t>
            </a:r>
            <a:endParaRPr lang="pt-BR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Box 3"/>
          <p:cNvSpPr/>
          <p:nvPr/>
        </p:nvSpPr>
        <p:spPr>
          <a:xfrm>
            <a:off x="2515680" y="2557440"/>
            <a:ext cx="7160400" cy="74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39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Segurança &amp; Boas Práticas</a:t>
            </a:r>
            <a:endParaRPr lang="pt-BR" sz="3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Rectangle 4"/>
          <p:cNvSpPr/>
          <p:nvPr/>
        </p:nvSpPr>
        <p:spPr>
          <a:xfrm>
            <a:off x="5715000" y="3681360"/>
            <a:ext cx="761760" cy="378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6840" rIns="90000" bIns="-68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0" name="TextBox 5"/>
          <p:cNvSpPr/>
          <p:nvPr/>
        </p:nvSpPr>
        <p:spPr>
          <a:xfrm>
            <a:off x="2523960" y="3957480"/>
            <a:ext cx="714348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ts val="2251"/>
              </a:lnSpc>
            </a:pPr>
            <a:r>
              <a:rPr lang="en-US" sz="1500" b="0" u="none" strike="noStrike">
                <a:solidFill>
                  <a:srgbClr val="475569"/>
                </a:solidFill>
                <a:effectLst/>
                <a:uFillTx/>
                <a:latin typeface="Inter"/>
              </a:rPr>
              <a:t>Garantindo que a aplicação web e o banco MySQL estejam protegidos contra as principais ameaças.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Picture 1" descr="image.png"/>
          <p:cNvPicPr/>
          <p:nvPr/>
        </p:nvPicPr>
        <p:blipFill>
          <a:blip r:embed="rId1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2" name="Picture 2" descr="image.png"/>
          <p:cNvPicPr/>
          <p:nvPr/>
        </p:nvPicPr>
        <p:blipFill>
          <a:blip r:embed="rId2"/>
          <a:stretch/>
        </p:blipFill>
        <p:spPr>
          <a:xfrm>
            <a:off x="571680" y="2376360"/>
            <a:ext cx="3492360" cy="291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3" name="Picture 3" descr="image.png"/>
          <p:cNvPicPr/>
          <p:nvPr/>
        </p:nvPicPr>
        <p:blipFill>
          <a:blip r:embed="rId3"/>
          <a:stretch/>
        </p:blipFill>
        <p:spPr>
          <a:xfrm>
            <a:off x="4349880" y="2376360"/>
            <a:ext cx="3492360" cy="291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4" name="Picture 4" descr="image.png"/>
          <p:cNvPicPr/>
          <p:nvPr/>
        </p:nvPicPr>
        <p:blipFill>
          <a:blip r:embed="rId4"/>
          <a:stretch/>
        </p:blipFill>
        <p:spPr>
          <a:xfrm>
            <a:off x="8128080" y="2376360"/>
            <a:ext cx="3492360" cy="291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5" name="Picture 5" descr="image.png"/>
          <p:cNvPicPr/>
          <p:nvPr/>
        </p:nvPicPr>
        <p:blipFill>
          <a:blip r:embed="rId5"/>
          <a:stretch/>
        </p:blipFill>
        <p:spPr>
          <a:xfrm>
            <a:off x="866880" y="270036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6" name="TextBox 6"/>
          <p:cNvSpPr/>
          <p:nvPr/>
        </p:nvSpPr>
        <p:spPr>
          <a:xfrm>
            <a:off x="866880" y="3462480"/>
            <a:ext cx="210996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Anti SQL Injection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7"/>
          <p:cNvSpPr/>
          <p:nvPr/>
        </p:nvSpPr>
        <p:spPr>
          <a:xfrm>
            <a:off x="866880" y="3909960"/>
            <a:ext cx="290160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Uso estrito de Prepared Statements no PDO. Nunca concatenar dados informados pelo usuário diretamente nas queries SQL.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8" name="Picture 8" descr="image.png"/>
          <p:cNvPicPr/>
          <p:nvPr/>
        </p:nvPicPr>
        <p:blipFill>
          <a:blip r:embed="rId6"/>
          <a:stretch/>
        </p:blipFill>
        <p:spPr>
          <a:xfrm>
            <a:off x="4645080" y="270036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9" name="TextBox 9"/>
          <p:cNvSpPr/>
          <p:nvPr/>
        </p:nvSpPr>
        <p:spPr>
          <a:xfrm>
            <a:off x="4645080" y="3462480"/>
            <a:ext cx="196992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Hash de Senhas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10"/>
          <p:cNvSpPr/>
          <p:nvPr/>
        </p:nvSpPr>
        <p:spPr>
          <a:xfrm>
            <a:off x="4645080" y="3909960"/>
            <a:ext cx="290160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Nunca salvar senhas em texto puro. Utilizar a função nativa password_hash() com algoritmos fortes como BCRYPT.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1" name="Picture 11" descr="image.png"/>
          <p:cNvPicPr/>
          <p:nvPr/>
        </p:nvPicPr>
        <p:blipFill>
          <a:blip r:embed="rId7"/>
          <a:stretch/>
        </p:blipFill>
        <p:spPr>
          <a:xfrm>
            <a:off x="8423280" y="2700360"/>
            <a:ext cx="571320" cy="5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TextBox 12"/>
          <p:cNvSpPr/>
          <p:nvPr/>
        </p:nvSpPr>
        <p:spPr>
          <a:xfrm>
            <a:off x="8423280" y="3462480"/>
            <a:ext cx="20898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1E293B"/>
                </a:solidFill>
                <a:effectLst/>
                <a:uFillTx/>
                <a:latin typeface="Poppins SemiBold"/>
              </a:rPr>
              <a:t>Higienização XSS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Box 13"/>
          <p:cNvSpPr/>
          <p:nvPr/>
        </p:nvSpPr>
        <p:spPr>
          <a:xfrm>
            <a:off x="8423280" y="3909960"/>
            <a:ext cx="2901600" cy="9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ts val="1913"/>
              </a:lnSpc>
            </a:pPr>
            <a:r>
              <a:rPr lang="en-US" sz="1280" b="0" u="none" strike="noStrike">
                <a:solidFill>
                  <a:srgbClr val="334155"/>
                </a:solidFill>
                <a:effectLst/>
                <a:uFillTx/>
                <a:latin typeface="Inter"/>
              </a:rPr>
              <a:t>Tratar saídas exibidas no HTML utilizando htmlspecialchars() para prevenir injeção de scripts maliciosos em JS.</a:t>
            </a:r>
            <a:endParaRPr lang="pt-BR" sz="12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4" name="Picture 14" descr="image.png"/>
          <p:cNvPicPr/>
          <p:nvPr/>
        </p:nvPicPr>
        <p:blipFill>
          <a:blip r:embed="rId8"/>
          <a:stretch/>
        </p:blipFill>
        <p:spPr>
          <a:xfrm>
            <a:off x="1028880" y="286236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5" name="Picture 15" descr="image.png"/>
          <p:cNvPicPr/>
          <p:nvPr/>
        </p:nvPicPr>
        <p:blipFill>
          <a:blip r:embed="rId9"/>
          <a:stretch/>
        </p:blipFill>
        <p:spPr>
          <a:xfrm>
            <a:off x="4807080" y="286236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6" name="Picture 16" descr="image.png"/>
          <p:cNvPicPr/>
          <p:nvPr/>
        </p:nvPicPr>
        <p:blipFill>
          <a:blip r:embed="rId10"/>
          <a:stretch/>
        </p:blipFill>
        <p:spPr>
          <a:xfrm>
            <a:off x="8585280" y="2862360"/>
            <a:ext cx="247320" cy="24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7" name="TextBox 17"/>
          <p:cNvSpPr/>
          <p:nvPr/>
        </p:nvSpPr>
        <p:spPr>
          <a:xfrm>
            <a:off x="571680" y="476280"/>
            <a:ext cx="11601000" cy="52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0F172A"/>
                </a:solidFill>
                <a:effectLst/>
                <a:uFillTx/>
                <a:latin typeface="Poppins"/>
              </a:rPr>
              <a:t>Pilares da Segurança na Web</a:t>
            </a:r>
            <a:endParaRPr lang="pt-BR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LibreOffice/26.2.5.2$Windows_X86_64 LibreOffice_project/cd7284b4cbbfeb507e630c1aac019f4157393acb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2026-09-15T15:17:04Z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